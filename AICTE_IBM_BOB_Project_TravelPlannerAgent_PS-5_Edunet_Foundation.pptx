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90" r:id="rId2"/>
    <p:sldId id="291" r:id="rId3"/>
    <p:sldId id="292" r:id="rId4"/>
    <p:sldId id="293" r:id="rId5"/>
    <p:sldId id="294" r:id="rId6"/>
    <p:sldId id="295" r:id="rId7"/>
    <p:sldId id="311" r:id="rId8"/>
    <p:sldId id="297" r:id="rId9"/>
    <p:sldId id="313" r:id="rId10"/>
    <p:sldId id="298" r:id="rId11"/>
    <p:sldId id="299" r:id="rId12"/>
    <p:sldId id="300" r:id="rId13"/>
    <p:sldId id="301" r:id="rId14"/>
    <p:sldId id="302" r:id="rId15"/>
    <p:sldId id="303" r:id="rId16"/>
    <p:sldId id="312" r:id="rId17"/>
    <p:sldId id="304" r:id="rId18"/>
    <p:sldId id="305" r:id="rId19"/>
    <p:sldId id="306" r:id="rId20"/>
    <p:sldId id="307" r:id="rId21"/>
    <p:sldId id="310" r:id="rId22"/>
    <p:sldId id="308" r:id="rId23"/>
    <p:sldId id="309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3510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7961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Lakshyajain688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472939474"/>
              </p:ext>
            </p:extLst>
          </p:nvPr>
        </p:nvGraphicFramePr>
        <p:xfrm>
          <a:off x="777478" y="2011697"/>
          <a:ext cx="10438543" cy="4443043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294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0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9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0359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65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Lakshya Jain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AICTE Registered Email ID – </a:t>
                      </a:r>
                      <a:r>
                        <a:rPr lang="en-US" sz="2000" dirty="0">
                          <a:hlinkClick r:id="rId3"/>
                        </a:rPr>
                        <a:t>Lakshyajain688@gmail.com</a:t>
                      </a:r>
                      <a:endParaRPr lang="en-US" sz="20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2000" dirty="0"/>
                      </a:br>
                      <a:br>
                        <a:rPr lang="en-US" sz="2000" dirty="0"/>
                      </a:br>
                      <a:r>
                        <a:rPr lang="en-US" sz="2000" dirty="0"/>
                        <a:t>IBM </a:t>
                      </a:r>
                      <a:r>
                        <a:rPr lang="en-US" sz="2000" dirty="0" err="1"/>
                        <a:t>SkillsBuild</a:t>
                      </a:r>
                      <a:r>
                        <a:rPr lang="en-US" sz="2000" dirty="0"/>
                        <a:t> Platform Registered Email ID – Officiallylakshyajain@gmail.com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+91 9321440294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102321" y="1202392"/>
            <a:ext cx="10280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3200" b="1" dirty="0">
                <a:highlight>
                  <a:srgbClr val="FFFF00"/>
                </a:highlight>
              </a:rPr>
              <a:t>Travel and Tourism 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[Travel Planner Agent</a:t>
            </a:r>
            <a:r>
              <a:rPr lang="en-US" sz="20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F4477-747A-439C-9B50-83FE27384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762" y="3708510"/>
            <a:ext cx="1755425" cy="219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501568"/>
            <a:ext cx="1060704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Problem Statement : Travel Planner Agent</a:t>
            </a:r>
          </a:p>
          <a:p>
            <a:r>
              <a:rPr lang="en-GB" b="1" dirty="0"/>
              <a:t>The Challenge</a:t>
            </a:r>
          </a:p>
          <a:p>
            <a:r>
              <a:rPr lang="en-GB" dirty="0"/>
              <a:t>Planning a trip can be time-consuming due to </a:t>
            </a:r>
            <a:r>
              <a:rPr lang="en-GB" b="1" dirty="0"/>
              <a:t>destination selection, budgeting, transportation, accommodation, and itinerary planning</a:t>
            </a:r>
            <a:r>
              <a:rPr lang="en-GB" dirty="0"/>
              <a:t>. Travelers often need to search multiple platforms to create a suitable plan based on their preferences and budget.</a:t>
            </a:r>
          </a:p>
          <a:p>
            <a:r>
              <a:rPr lang="en-GB" b="1" dirty="0"/>
              <a:t>The Objective</a:t>
            </a:r>
          </a:p>
          <a:p>
            <a:r>
              <a:rPr lang="en-GB" dirty="0"/>
              <a:t>Build an </a:t>
            </a:r>
            <a:r>
              <a:rPr lang="en-GB" b="1" dirty="0"/>
              <a:t>AI-powered Travel Planner Agent</a:t>
            </a:r>
            <a:r>
              <a:rPr lang="en-GB" dirty="0"/>
              <a:t> that provides </a:t>
            </a:r>
            <a:r>
              <a:rPr lang="en-GB" b="1" dirty="0"/>
              <a:t>personalized travel recommendations and itineraries</a:t>
            </a:r>
            <a:r>
              <a:rPr lang="en-GB" dirty="0"/>
              <a:t> based on the user's destination, budget, duration, and interests.</a:t>
            </a:r>
          </a:p>
          <a:p>
            <a:r>
              <a:rPr lang="en-GB" dirty="0"/>
              <a:t>The solution should:</a:t>
            </a:r>
          </a:p>
          <a:p>
            <a:r>
              <a:rPr lang="en-GB" dirty="0"/>
              <a:t>• </a:t>
            </a:r>
            <a:r>
              <a:rPr lang="en-GB" b="1" dirty="0"/>
              <a:t>Destination Recommendations</a:t>
            </a:r>
            <a:r>
              <a:rPr lang="en-GB" dirty="0"/>
              <a:t> – Suggest destinations and attractions based on user preferences.</a:t>
            </a:r>
          </a:p>
          <a:p>
            <a:r>
              <a:rPr lang="en-GB" dirty="0"/>
              <a:t>• </a:t>
            </a:r>
            <a:r>
              <a:rPr lang="en-GB" b="1" dirty="0"/>
              <a:t>Itinerary Generation</a:t>
            </a:r>
            <a:r>
              <a:rPr lang="en-GB" dirty="0"/>
              <a:t> – Create a day-by-day travel plan based on trip duration and interests.</a:t>
            </a:r>
          </a:p>
          <a:p>
            <a:r>
              <a:rPr lang="en-GB" dirty="0"/>
              <a:t>• </a:t>
            </a:r>
            <a:r>
              <a:rPr lang="en-GB" b="1" dirty="0"/>
              <a:t>Budget Planning</a:t>
            </a:r>
            <a:r>
              <a:rPr lang="en-GB" dirty="0"/>
              <a:t> – Estimate expenses for accommodation, food, transportation, and activities.</a:t>
            </a:r>
          </a:p>
          <a:p>
            <a:r>
              <a:rPr lang="en-GB" dirty="0"/>
              <a:t>• </a:t>
            </a:r>
            <a:r>
              <a:rPr lang="en-GB" b="1" dirty="0"/>
              <a:t>Activity Recommendations</a:t>
            </a:r>
            <a:r>
              <a:rPr lang="en-GB" dirty="0"/>
              <a:t> – Suggest sightseeing, restaurants, and activities.</a:t>
            </a:r>
          </a:p>
          <a:p>
            <a:r>
              <a:rPr lang="en-GB" dirty="0"/>
              <a:t>• </a:t>
            </a:r>
            <a:r>
              <a:rPr lang="en-GB" b="1" dirty="0"/>
              <a:t>Travel Guidance</a:t>
            </a:r>
            <a:r>
              <a:rPr lang="en-GB" dirty="0"/>
              <a:t> – Provide transportation options, travel tips, and useful suggestions.</a:t>
            </a:r>
          </a:p>
          <a:p>
            <a:r>
              <a:rPr lang="en-GB" dirty="0"/>
              <a:t>• </a:t>
            </a:r>
            <a:r>
              <a:rPr lang="en-GB" b="1" dirty="0"/>
              <a:t>Personalized Adjustments</a:t>
            </a:r>
            <a:r>
              <a:rPr lang="en-GB" dirty="0"/>
              <a:t> – Modify the itinerary according to budget, duration, interests, and travel style.</a:t>
            </a:r>
          </a:p>
          <a:p>
            <a:r>
              <a:rPr lang="en-GB" dirty="0"/>
              <a:t>• </a:t>
            </a:r>
            <a:r>
              <a:rPr lang="en-GB" b="1" dirty="0"/>
              <a:t>Multi-Agent System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Destination Agent</a:t>
            </a:r>
            <a:r>
              <a:rPr lang="en-GB" dirty="0"/>
              <a:t> – Recommends destinations and attractions.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Itinerary Agent</a:t>
            </a:r>
            <a:r>
              <a:rPr lang="en-GB" dirty="0"/>
              <a:t> – Creates the daily travel plan.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Budget Agent</a:t>
            </a:r>
            <a:r>
              <a:rPr lang="en-GB" dirty="0"/>
              <a:t> – Estimates and organizes trip expenses.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Travel Guidance Agent</a:t>
            </a:r>
            <a:r>
              <a:rPr lang="en-GB" dirty="0"/>
              <a:t> – Provides transportation and travel tips. </a:t>
            </a:r>
          </a:p>
          <a:p>
            <a:r>
              <a:rPr lang="en-GB" dirty="0"/>
              <a:t>• </a:t>
            </a:r>
            <a:r>
              <a:rPr lang="en-GB" b="1" dirty="0"/>
              <a:t>Travel Dashboard</a:t>
            </a:r>
            <a:r>
              <a:rPr lang="en-GB" dirty="0"/>
              <a:t> – Display the itinerary, budget, activities, and recommendations in an easy-to-use interface.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457509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537264"/>
            <a:ext cx="1060704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Proposed Solution: AI-Powered Travel Planner Agent</a:t>
            </a:r>
          </a:p>
          <a:p>
            <a:r>
              <a:rPr lang="en-GB" dirty="0"/>
              <a:t>The proposed solution is an </a:t>
            </a:r>
            <a:r>
              <a:rPr lang="en-GB" b="1" dirty="0"/>
              <a:t>AI-powered Travel Planner Agent built using IBM BOB, IBM watsonx.ai, and Granite Models</a:t>
            </a:r>
            <a:r>
              <a:rPr lang="en-GB" dirty="0"/>
              <a:t> to provide personalized travel recommendations and itinerary planning based on the user's preferences, budget, and trip requirements.</a:t>
            </a:r>
          </a:p>
          <a:p>
            <a:r>
              <a:rPr lang="en-GB" dirty="0"/>
              <a:t>At its core, the solution uses </a:t>
            </a:r>
            <a:r>
              <a:rPr lang="en-GB" b="1" dirty="0"/>
              <a:t>Granite models</a:t>
            </a:r>
            <a:r>
              <a:rPr lang="en-GB" dirty="0"/>
              <a:t> to understand user requirements and generate customized travel plans. The system considers factors such as </a:t>
            </a:r>
            <a:r>
              <a:rPr lang="en-GB" b="1" dirty="0"/>
              <a:t>destination, duration, budget, interests, travel style, and transportation preferences</a:t>
            </a:r>
            <a:r>
              <a:rPr lang="en-GB" dirty="0"/>
              <a:t> to create practical and personalized itineraries.</a:t>
            </a:r>
          </a:p>
          <a:p>
            <a:r>
              <a:rPr lang="en-GB" dirty="0"/>
              <a:t>The system consists of four key components:</a:t>
            </a:r>
          </a:p>
          <a:p>
            <a:r>
              <a:rPr lang="en-GB" b="1" dirty="0"/>
              <a:t>Destination Recommendation Agent</a:t>
            </a:r>
            <a:r>
              <a:rPr lang="en-GB" dirty="0"/>
              <a:t> suggests suitable destinations, attractions, and activities based on the user's interests and preferences.</a:t>
            </a:r>
          </a:p>
          <a:p>
            <a:r>
              <a:rPr lang="en-GB" b="1" dirty="0"/>
              <a:t>Itinerary Planning Agent</a:t>
            </a:r>
            <a:r>
              <a:rPr lang="en-GB" dirty="0"/>
              <a:t> creates a structured day-by-day itinerary based on the trip duration, selected activities, and available time.</a:t>
            </a:r>
          </a:p>
          <a:p>
            <a:r>
              <a:rPr lang="en-GB" b="1" dirty="0"/>
              <a:t>Budget Planning Agent</a:t>
            </a:r>
            <a:r>
              <a:rPr lang="en-GB" dirty="0"/>
              <a:t> estimates expenses for accommodation, transportation, food, and activities while keeping the user's budget in consideration.</a:t>
            </a:r>
          </a:p>
          <a:p>
            <a:r>
              <a:rPr lang="en-GB" b="1" dirty="0"/>
              <a:t>Travel Guidance Agent</a:t>
            </a:r>
            <a:r>
              <a:rPr lang="en-GB" dirty="0"/>
              <a:t> provides transportation suggestions, travel tips, activity recommendations, and other useful information for the trip.</a:t>
            </a:r>
          </a:p>
          <a:p>
            <a:r>
              <a:rPr lang="en-GB" dirty="0"/>
              <a:t>The solution includes a </a:t>
            </a:r>
            <a:r>
              <a:rPr lang="en-GB" b="1" dirty="0"/>
              <a:t>user-friendly dashboard</a:t>
            </a:r>
            <a:r>
              <a:rPr lang="en-GB" dirty="0"/>
              <a:t> where users can enter their travel requirements and view personalized destinations, itineraries, budget estimates, activities, and travel suggestions.</a:t>
            </a:r>
          </a:p>
          <a:p>
            <a:r>
              <a:rPr lang="en-GB" b="1" dirty="0"/>
              <a:t>IBM BOB</a:t>
            </a:r>
            <a:r>
              <a:rPr lang="en-GB" dirty="0"/>
              <a:t> is used to assist in building and orchestrating the application, while </a:t>
            </a:r>
            <a:r>
              <a:rPr lang="en-GB" b="1" dirty="0"/>
              <a:t>Granite models</a:t>
            </a:r>
            <a:r>
              <a:rPr lang="en-GB" dirty="0"/>
              <a:t> provide the AI capabilities for understanding preferences, generating itineraries, and personalizing recommendations.</a:t>
            </a:r>
          </a:p>
          <a:p>
            <a:r>
              <a:rPr lang="en-GB" dirty="0"/>
              <a:t>Overall, the solution delivers an </a:t>
            </a:r>
            <a:r>
              <a:rPr lang="en-GB" b="1" dirty="0"/>
              <a:t>intelligent travel planning assistant</a:t>
            </a:r>
            <a:r>
              <a:rPr lang="en-GB" dirty="0"/>
              <a:t> that simplifies trip planning and helps users create </a:t>
            </a:r>
            <a:r>
              <a:rPr lang="en-GB" b="1" dirty="0"/>
              <a:t>personalized, practical, and budget-conscious travel experiences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• </a:t>
            </a:r>
            <a:r>
              <a:rPr lang="en-GB" sz="2400" b="1" dirty="0"/>
              <a:t>IBM BOB Platform</a:t>
            </a:r>
            <a:r>
              <a:rPr lang="en-GB" sz="2400" dirty="0"/>
              <a:t> – Used to build and integrate the Travel Planner Agent through natural-language prompting.</a:t>
            </a:r>
          </a:p>
          <a:p>
            <a:endParaRPr lang="en-GB" sz="2400" dirty="0"/>
          </a:p>
          <a:p>
            <a:r>
              <a:rPr lang="en-GB" sz="2400" dirty="0"/>
              <a:t>• </a:t>
            </a:r>
            <a:r>
              <a:rPr lang="en-GB" sz="2400" b="1" dirty="0"/>
              <a:t>IBM Granite Model</a:t>
            </a:r>
            <a:r>
              <a:rPr lang="en-GB" sz="2400" dirty="0"/>
              <a:t> – Used for understanding travel preferences, generating personalized itineraries, recommendations, and travel guidance.</a:t>
            </a:r>
          </a:p>
          <a:p>
            <a:endParaRPr lang="en-GB" sz="2400" dirty="0"/>
          </a:p>
          <a:p>
            <a:r>
              <a:rPr lang="en-GB" sz="2400" dirty="0"/>
              <a:t>• </a:t>
            </a:r>
            <a:r>
              <a:rPr lang="en-GB" sz="2400" b="1" dirty="0"/>
              <a:t>IBM Cloud</a:t>
            </a:r>
            <a:r>
              <a:rPr lang="en-GB" sz="2400" dirty="0"/>
              <a:t> – Used to provide the cloud infrastructure and services required for the application.</a:t>
            </a:r>
          </a:p>
          <a:p>
            <a:endParaRPr lang="en-GB" sz="2400" dirty="0"/>
          </a:p>
          <a:p>
            <a:r>
              <a:rPr lang="en-GB" sz="2400" dirty="0"/>
              <a:t>• </a:t>
            </a:r>
            <a:r>
              <a:rPr lang="en-GB" sz="2400" b="1" dirty="0"/>
              <a:t>AI-Based Personalization</a:t>
            </a:r>
            <a:r>
              <a:rPr lang="en-GB" sz="2400" dirty="0"/>
              <a:t> – Used to tailor travel plans according to the user's destination, budget, duration, interests, and travel style.</a:t>
            </a: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Index.html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Scripts.js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3ACF9-28BF-1D41-9184-8467DE92A8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110"/>
          <a:stretch/>
        </p:blipFill>
        <p:spPr>
          <a:xfrm>
            <a:off x="3893906" y="1555103"/>
            <a:ext cx="8174804" cy="50066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8FFE47B-2313-5701-3AE0-0D113ABB2003}"/>
              </a:ext>
            </a:extLst>
          </p:cNvPr>
          <p:cNvGrpSpPr/>
          <p:nvPr/>
        </p:nvGrpSpPr>
        <p:grpSpPr>
          <a:xfrm>
            <a:off x="3893906" y="1255054"/>
            <a:ext cx="5908284" cy="826627"/>
            <a:chOff x="4250700" y="1520573"/>
            <a:chExt cx="5908284" cy="82662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FF7BC6-93D0-8D42-34B7-C226B1B96C2D}"/>
                </a:ext>
              </a:extLst>
            </p:cNvPr>
            <p:cNvSpPr/>
            <p:nvPr/>
          </p:nvSpPr>
          <p:spPr>
            <a:xfrm>
              <a:off x="4250700" y="2029968"/>
              <a:ext cx="5908284" cy="317232"/>
            </a:xfrm>
            <a:prstGeom prst="rect">
              <a:avLst/>
            </a:prstGeom>
            <a:solidFill>
              <a:srgbClr val="E71224">
                <a:alpha val="5000"/>
              </a:srgbClr>
            </a:solidFill>
            <a:ln w="72000">
              <a:solidFill>
                <a:srgbClr val="E712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E71224"/>
                </a:solidFill>
              </a:endParaRP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A6C81E80-ED7B-4240-A8EE-0221D9ACD900}"/>
                </a:ext>
              </a:extLst>
            </p:cNvPr>
            <p:cNvSpPr/>
            <p:nvPr/>
          </p:nvSpPr>
          <p:spPr>
            <a:xfrm rot="8280234">
              <a:off x="7719727" y="1520573"/>
              <a:ext cx="923544" cy="3383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486001-194C-F09F-B611-ADBDFA2A9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204" y="1047990"/>
            <a:ext cx="10188539" cy="536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21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E14255-ACC3-5386-099C-C4AD23B4A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35" y="473289"/>
            <a:ext cx="11237555" cy="59114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36D62A-BC8B-F901-64C3-AC0E333C4807}"/>
              </a:ext>
            </a:extLst>
          </p:cNvPr>
          <p:cNvSpPr/>
          <p:nvPr/>
        </p:nvSpPr>
        <p:spPr>
          <a:xfrm>
            <a:off x="2250040" y="2792002"/>
            <a:ext cx="3955551" cy="305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DC968B-135C-9CD7-6F5D-EDE7AD8096C4}"/>
              </a:ext>
            </a:extLst>
          </p:cNvPr>
          <p:cNvSpPr/>
          <p:nvPr/>
        </p:nvSpPr>
        <p:spPr>
          <a:xfrm>
            <a:off x="2250040" y="3328828"/>
            <a:ext cx="3544585" cy="305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0F8F02-43E6-128A-79D1-B708F6383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13" y="367214"/>
            <a:ext cx="11606373" cy="612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E69C11-D194-417B-75B1-9BC6CCFC8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62" y="733221"/>
            <a:ext cx="11049455" cy="580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Role of Agentic AI in Travel Planner Agent</a:t>
            </a:r>
          </a:p>
          <a:p>
            <a:r>
              <a:rPr lang="en-GB" b="1" dirty="0"/>
              <a:t>Agentic AI</a:t>
            </a:r>
            <a:r>
              <a:rPr lang="en-GB" dirty="0"/>
              <a:t> enables the Travel Planner Agent to function as an intelligent, autonomous system rather than a simple chatbot. Using </a:t>
            </a:r>
            <a:r>
              <a:rPr lang="en-GB" b="1" dirty="0"/>
              <a:t>IBM watsonx.ai</a:t>
            </a:r>
            <a:r>
              <a:rPr lang="en-GB" dirty="0"/>
              <a:t> and </a:t>
            </a:r>
            <a:r>
              <a:rPr lang="en-GB" b="1" dirty="0"/>
              <a:t>IBM Granite models</a:t>
            </a:r>
            <a:r>
              <a:rPr lang="en-GB" dirty="0"/>
              <a:t>, it coordinates multiple specialized agents to create personalized travel plans.</a:t>
            </a:r>
          </a:p>
          <a:p>
            <a:r>
              <a:rPr lang="en-GB" dirty="0"/>
              <a:t>Each agent performs a specific role—such as </a:t>
            </a:r>
            <a:r>
              <a:rPr lang="en-GB" b="1" dirty="0"/>
              <a:t>recommending destinations, creating itineraries, planning budgets, and providing travel guidance</a:t>
            </a:r>
            <a:r>
              <a:rPr lang="en-GB" dirty="0"/>
              <a:t>—while working collaboratively. This </a:t>
            </a:r>
            <a:r>
              <a:rPr lang="en-GB" b="1" dirty="0"/>
              <a:t>multi-agent approach</a:t>
            </a:r>
            <a:r>
              <a:rPr lang="en-GB" dirty="0"/>
              <a:t> enables efficient task execution and personalized travel planning.</a:t>
            </a:r>
          </a:p>
          <a:p>
            <a:r>
              <a:rPr lang="en-GB" dirty="0"/>
              <a:t>Agentic AI also provides </a:t>
            </a:r>
            <a:r>
              <a:rPr lang="en-GB" b="1" dirty="0"/>
              <a:t>context awareness</a:t>
            </a:r>
            <a:r>
              <a:rPr lang="en-GB" dirty="0"/>
              <a:t>, understanding user preferences such as budget, trip duration, interests, travel style, and transportation requirements to generate suitable recommendations. It supports </a:t>
            </a:r>
            <a:r>
              <a:rPr lang="en-GB" b="1" dirty="0"/>
              <a:t>dynamic adaptation</a:t>
            </a:r>
            <a:r>
              <a:rPr lang="en-GB" dirty="0"/>
              <a:t>, allowing travel plans to be modified based on changes in user requirements.</a:t>
            </a:r>
          </a:p>
          <a:p>
            <a:r>
              <a:rPr lang="en-GB" dirty="0"/>
              <a:t>Additionally, agents communicate with each other, enabling better coordination between </a:t>
            </a:r>
            <a:r>
              <a:rPr lang="en-GB" b="1" dirty="0"/>
              <a:t>destination selection, itinerary planning, budget management, and travel guidance</a:t>
            </a:r>
            <a:r>
              <a:rPr lang="en-GB" dirty="0"/>
              <a:t>.</a:t>
            </a:r>
          </a:p>
          <a:p>
            <a:r>
              <a:rPr lang="en-GB" dirty="0"/>
              <a:t>Overall, Agentic AI makes the system </a:t>
            </a:r>
            <a:r>
              <a:rPr lang="en-GB" b="1" dirty="0"/>
              <a:t>personalized, adaptive, and goal-driven</a:t>
            </a:r>
            <a:r>
              <a:rPr lang="en-GB" dirty="0"/>
              <a:t>, acting as a </a:t>
            </a:r>
            <a:r>
              <a:rPr lang="en-GB" b="1" dirty="0"/>
              <a:t>smart digital travel planner</a:t>
            </a:r>
            <a:r>
              <a:rPr lang="en-GB" dirty="0"/>
              <a:t> that helps users create practical and enjoyable travel experiences.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3,850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62C36C-ECDA-8606-16F3-DF11FDFC3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6518"/>
            <a:ext cx="5809803" cy="24704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2693EB-FF1F-C42C-AE60-EAFA3BC0C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86518"/>
            <a:ext cx="6096000" cy="268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A29C4F-2087-164B-6B1D-625DCBF82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94" y="816977"/>
            <a:ext cx="11750211" cy="560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55AFF-3085-4F99-44CB-B00A3F61C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70" y="816977"/>
            <a:ext cx="11312660" cy="540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5C602-A302-C999-99BA-97D24331F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816977"/>
            <a:ext cx="11195407" cy="551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4DE3C0-D361-FE8E-5C38-61917AD28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48" y="1044263"/>
            <a:ext cx="10501001" cy="503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268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The proposed </a:t>
            </a:r>
            <a:r>
              <a:rPr lang="en-GB" sz="1600" b="1" dirty="0"/>
              <a:t>Travel Planner Agent</a:t>
            </a:r>
            <a:r>
              <a:rPr lang="en-GB" sz="1600" dirty="0"/>
              <a:t> stands out by combining </a:t>
            </a:r>
            <a:r>
              <a:rPr lang="en-GB" sz="1600" b="1" dirty="0"/>
              <a:t>Agentic AI, personalization, and intelligent planning</a:t>
            </a:r>
            <a:r>
              <a:rPr lang="en-GB" sz="1600" dirty="0"/>
              <a:t> into a single travel assistance system.</a:t>
            </a:r>
          </a:p>
          <a:p>
            <a:endParaRPr lang="en-GB" sz="1600" dirty="0"/>
          </a:p>
          <a:p>
            <a:r>
              <a:rPr lang="en-GB" sz="1600" b="1" dirty="0"/>
              <a:t>Multi-Agent Intelligence</a:t>
            </a:r>
            <a:r>
              <a:rPr lang="en-GB" sz="1600" dirty="0"/>
              <a:t> – Multiple specialized agents collaborate to handle destination selection, itinerary planning, budgeting, and travel guidance.</a:t>
            </a:r>
          </a:p>
          <a:p>
            <a:r>
              <a:rPr lang="en-GB" sz="1600" b="1" dirty="0"/>
              <a:t>Hyper-Personalization</a:t>
            </a:r>
            <a:r>
              <a:rPr lang="en-GB" sz="1600" dirty="0"/>
              <a:t> – Creates travel plans based on the user's </a:t>
            </a:r>
            <a:r>
              <a:rPr lang="en-GB" sz="1600" b="1" dirty="0"/>
              <a:t>budget, interests, duration, travel style, and preferences</a:t>
            </a:r>
            <a:r>
              <a:rPr lang="en-GB" sz="1600" dirty="0"/>
              <a:t>.</a:t>
            </a:r>
          </a:p>
          <a:p>
            <a:r>
              <a:rPr lang="en-GB" sz="1600" b="1" dirty="0"/>
              <a:t>Dynamic Itinerary Planning</a:t>
            </a:r>
            <a:r>
              <a:rPr lang="en-GB" sz="1600" dirty="0"/>
              <a:t> – Automatically adjusts the itinerary when users change their requirements, activities, or available time.</a:t>
            </a:r>
          </a:p>
          <a:p>
            <a:r>
              <a:rPr lang="en-GB" sz="1600" b="1" dirty="0"/>
              <a:t>Budget-Aware Planning</a:t>
            </a:r>
            <a:r>
              <a:rPr lang="en-GB" sz="1600" dirty="0"/>
              <a:t> – Considers the user's budget while recommending activities, accommodation options, transportation, and other expenses.</a:t>
            </a:r>
          </a:p>
          <a:p>
            <a:r>
              <a:rPr lang="en-GB" sz="1600" b="1" dirty="0"/>
              <a:t>Context-Aware Recommendations</a:t>
            </a:r>
            <a:r>
              <a:rPr lang="en-GB" sz="1600" dirty="0"/>
              <a:t> – Understands user requirements and provides relevant destinations, activities, and travel suggestions.</a:t>
            </a:r>
          </a:p>
          <a:p>
            <a:r>
              <a:rPr lang="en-GB" sz="1600" b="1" dirty="0"/>
              <a:t>Interactive Travel Assistance</a:t>
            </a:r>
            <a:r>
              <a:rPr lang="en-GB" sz="1600" dirty="0"/>
              <a:t> – Allows users to refine their itinerary through follow-up requests and receive updated recommendations.</a:t>
            </a:r>
          </a:p>
          <a:p>
            <a:r>
              <a:rPr lang="en-GB" sz="1600" b="1" dirty="0"/>
              <a:t>IBM-Powered AI</a:t>
            </a:r>
            <a:r>
              <a:rPr lang="en-GB" sz="1600" dirty="0"/>
              <a:t> – Built using </a:t>
            </a:r>
            <a:r>
              <a:rPr lang="en-GB" sz="1600" b="1" dirty="0"/>
              <a:t>IBM BOB, IBM watsonx.ai, and IBM Granite models</a:t>
            </a:r>
            <a:r>
              <a:rPr lang="en-GB" sz="1600" dirty="0"/>
              <a:t>, providing a scalable foundation for intelligent travel planning.</a:t>
            </a:r>
          </a:p>
          <a:p>
            <a:endParaRPr lang="en-GB" sz="1600" dirty="0"/>
          </a:p>
          <a:p>
            <a:r>
              <a:rPr lang="en-GB" sz="1600" dirty="0"/>
              <a:t>This makes the solution a </a:t>
            </a:r>
            <a:r>
              <a:rPr lang="en-GB" sz="1600" b="1" dirty="0"/>
              <a:t>smart, adaptive, and personalized digital travel planner</a:t>
            </a:r>
            <a:r>
              <a:rPr lang="en-GB" sz="1600" dirty="0"/>
              <a:t>, rather than just a static itinerary generator.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GB" sz="1800" b="1" dirty="0"/>
              <a:t>1. Real-Time Travel Data Integration –</a:t>
            </a:r>
            <a:endParaRPr lang="en-GB" sz="1800" dirty="0"/>
          </a:p>
          <a:p>
            <a:r>
              <a:rPr lang="en-GB" sz="1800" dirty="0"/>
              <a:t>The system can be integrated with real-time APIs for </a:t>
            </a:r>
            <a:r>
              <a:rPr lang="en-GB" sz="1800" b="1" dirty="0"/>
              <a:t>flight prices, hotel availability, weather, and local transportation</a:t>
            </a:r>
            <a:r>
              <a:rPr lang="en-GB" sz="1800" dirty="0"/>
              <a:t>. This will enable the Travel Planner Agent to provide more accurate and up-to-date travel recommendations and dynamically adjust itineraries.</a:t>
            </a:r>
          </a:p>
          <a:p>
            <a:endParaRPr lang="en-GB" sz="1800" dirty="0"/>
          </a:p>
          <a:p>
            <a:r>
              <a:rPr lang="en-GB" sz="1800" b="1" dirty="0"/>
              <a:t>2. AI-Powered Voice Assistant &amp; Multilingual Support –</a:t>
            </a:r>
            <a:endParaRPr lang="en-GB" sz="1800" dirty="0"/>
          </a:p>
          <a:p>
            <a:r>
              <a:rPr lang="en-GB" sz="1800" dirty="0"/>
              <a:t>Enhancing the system with a </a:t>
            </a:r>
            <a:r>
              <a:rPr lang="en-GB" sz="1800" b="1" dirty="0"/>
              <a:t>voice-enabled assistant and multilingual support</a:t>
            </a:r>
            <a:r>
              <a:rPr lang="en-GB" sz="1800" dirty="0"/>
              <a:t> will improve accessibility. Users will be able to interact naturally in their preferred language, making the solution more inclusive for </a:t>
            </a:r>
            <a:r>
              <a:rPr lang="en-GB" sz="1800" dirty="0" err="1"/>
              <a:t>travelers</a:t>
            </a:r>
            <a:r>
              <a:rPr lang="en-GB" sz="1800" dirty="0"/>
              <a:t> from diverse backgrounds.</a:t>
            </a:r>
          </a:p>
          <a:p>
            <a:endParaRPr lang="en-GB" sz="1800" dirty="0"/>
          </a:p>
          <a:p>
            <a:r>
              <a:rPr lang="en-GB" sz="1800" b="1" dirty="0"/>
              <a:t>3. Smart Booking &amp; Reservation Integration –</a:t>
            </a:r>
            <a:endParaRPr lang="en-GB" sz="1800" dirty="0"/>
          </a:p>
          <a:p>
            <a:r>
              <a:rPr lang="en-GB" sz="1800" dirty="0"/>
              <a:t>The system can be extended to connect with </a:t>
            </a:r>
            <a:r>
              <a:rPr lang="en-GB" sz="1800" b="1" dirty="0"/>
              <a:t>flight, hotel, restaurant, and activity booking platforms</a:t>
            </a:r>
            <a:r>
              <a:rPr lang="en-GB" sz="1800" dirty="0"/>
              <a:t>, allowing users to move from itinerary planning to actual reservations through a single platform.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79795A-6466-3310-3279-19B5C50BF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628" y="1367169"/>
            <a:ext cx="6950744" cy="520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Cybersecurity) 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A9CC24-860B-67DA-6B31-B9B550AB5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839" y="1367169"/>
            <a:ext cx="6718645" cy="503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63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53C83-B91D-314D-7B46-837474347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242" y="1344014"/>
            <a:ext cx="8058564" cy="49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1449</Words>
  <Application>Microsoft Office PowerPoint</Application>
  <PresentationFormat>Widescreen</PresentationFormat>
  <Paragraphs>147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sanjayjainburma@gmail.com</cp:lastModifiedBy>
  <cp:revision>6</cp:revision>
  <dcterms:created xsi:type="dcterms:W3CDTF">2025-07-08T05:06:56Z</dcterms:created>
  <dcterms:modified xsi:type="dcterms:W3CDTF">2026-09-06T11:19:54Z</dcterms:modified>
</cp:coreProperties>
</file>